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B4A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Conductores</c:v>
                  </c:pt>
                  <c:pt idx="1">
                    <c:v>Canalizaciones</c:v>
                  </c:pt>
                  <c:pt idx="2">
                    <c:v>Tableros</c:v>
                  </c:pt>
                  <c:pt idx="3">
                    <c:v>Protecciones</c:v>
                  </c:pt>
                  <c:pt idx="4">
                    <c:v>Maniobra</c:v>
                  </c:pt>
                  <c:pt idx="5">
                    <c:v>Tomas</c:v>
                  </c:pt>
                  <c:pt idx="6">
                    <c:v>Iluminación</c:v>
                  </c:pt>
                  <c:pt idx="7">
                    <c:v>Puesta a tierra</c:v>
                  </c:pt>
                  <c:pt idx="8">
                    <c:v>Lijadora de banda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755</c:v>
                </c:pt>
                <c:pt idx="1">
                  <c:v>910</c:v>
                </c:pt>
                <c:pt idx="2">
                  <c:v>555</c:v>
                </c:pt>
                <c:pt idx="3">
                  <c:v>592</c:v>
                </c:pt>
                <c:pt idx="4">
                  <c:v>723</c:v>
                </c:pt>
                <c:pt idx="5">
                  <c:v>502</c:v>
                </c:pt>
                <c:pt idx="6">
                  <c:v>1416</c:v>
                </c:pt>
                <c:pt idx="7">
                  <c:v>45</c:v>
                </c:pt>
                <c:pt idx="8">
                  <c:v>731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A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0"/>
            <a:ext cx="4599432" cy="6309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280160"/>
            <a:ext cx="4389120" cy="3291840"/>
          </a:xfrm>
          <a:prstGeom prst="rect">
            <a:avLst/>
          </a:prstGeom>
        </p:spPr>
      </p:pic>
      <p:pic>
        <p:nvPicPr>
          <p:cNvPr id="5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46304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0" y="685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731520" y="210312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Carpintería Industrial</a:t>
            </a:r>
            <a:endParaRPr lang="en-US" sz="4600" dirty="0"/>
          </a:p>
        </p:txBody>
      </p:sp>
      <p:sp>
        <p:nvSpPr>
          <p:cNvPr id="8" name="Text 4"/>
          <p:cNvSpPr/>
          <p:nvPr/>
        </p:nvSpPr>
        <p:spPr>
          <a:xfrm>
            <a:off x="731520" y="30175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eléctrica, tableros, automatismo y lijadora de banda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3152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del Proyecto TK-VA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31520" y="47548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Dibella · Octavio Di Carlantonio · Lucio Di Carlantonio · Agustín Duarte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31520" y="6355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463040" y="1645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463040" y="2560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establecimiento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8640" y="3474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46304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y demanda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48640" y="43891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463040" y="4389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y protecciones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48640" y="5303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463040" y="5303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y unifilar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217920" y="16459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132320" y="1645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217920" y="25603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132320" y="2560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Canalizaciones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217920" y="3474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713232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Automatismo y seguridad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217920" y="43891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7132320" y="4389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Lijadora de banda 3D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217920" y="5303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7132320" y="5303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y conclusiones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Vortex: ingeniería eléctrica, automatismo y seguridad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técnicos para PyMEs industriales: instalaciones, tableros, automatismo, seguridad de máquinas y mantenimiento.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Misión: instalaciones seguras, eficientes y documentadas bajo normativa vigente.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Visión: ser referencia técnica para la pequeña y mediana industria.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 seguridad primero, rigor técnico, transparencia, trabajo en equipo.</a:t>
            </a:r>
            <a:endParaRPr lang="en-US" sz="1600" dirty="0"/>
          </a:p>
        </p:txBody>
      </p:sp>
      <p:pic>
        <p:nvPicPr>
          <p:cNvPr id="8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6309360" cy="3264408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4937760"/>
          <a:ext cx="6309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383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Dibella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Ingeniería eléctrica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Octavio Di Carlantonio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 y marketing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Lucio Di Carlantonio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 e HyS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Agustín Duarte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y modelado 3D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ESTABLECIMIENTO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 de 120 m² zonificada por flujo productivo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4</a:t>
            </a:r>
            <a:endParaRPr lang="en-US" sz="1000" dirty="0"/>
          </a:p>
        </p:txBody>
      </p:sp>
      <p:pic>
        <p:nvPicPr>
          <p:cNvPr id="7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949440" cy="46725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0" y="1554480"/>
            <a:ext cx="4023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 × 10,00 m — altura libre 4,00 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40 m² · Bancos 30 m² · Lijado 15 m² · Acabado 15 m² (ATEX) · Almacén 12 m² · Oficina 8 m²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Suministro 3 × 380/220 V + N + PE, esquema TT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máquinas trifásicas + herramientas monofásicas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Y DEMANDA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instalada y demanda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2651760" cy="13258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554480"/>
            <a:ext cx="73152" cy="132588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66420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30,34 kW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instalada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83280" y="1554480"/>
            <a:ext cx="2651760" cy="13258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554480"/>
            <a:ext cx="73152" cy="13258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3611880" y="166420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20,74 kW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61188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simultánea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1554480"/>
            <a:ext cx="2651760" cy="13258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1554480"/>
            <a:ext cx="73152" cy="132588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166420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37,31 A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44652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Corriente máx. (fase R)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052560" y="1554480"/>
            <a:ext cx="2651760" cy="13258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52560" y="1554480"/>
            <a:ext cx="73152" cy="1325880"/>
          </a:xfrm>
          <a:prstGeom prst="rect">
            <a:avLst/>
          </a:prstGeom>
          <a:solidFill>
            <a:srgbClr val="1F6B41"/>
          </a:solidFill>
          <a:ln/>
        </p:spPr>
      </p:sp>
      <p:sp>
        <p:nvSpPr>
          <p:cNvPr id="21" name="Text 18"/>
          <p:cNvSpPr/>
          <p:nvPr/>
        </p:nvSpPr>
        <p:spPr>
          <a:xfrm>
            <a:off x="9281160" y="166420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3,15 kA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928116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presunta en TP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09728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inst. [kW]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dem. [kW]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Fuerza motriz M1–M5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Iluminación IUG1–4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TUG1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3200400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total [A]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0"/>
          <p:cNvSpPr/>
          <p:nvPr/>
        </p:nvSpPr>
        <p:spPr>
          <a:xfrm>
            <a:off x="7498080" y="47548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Desequilibrio 13,5 % — dentro del rango previsto de 15–22 kW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Y PROTECCIONES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monofásicos: IUG, TUG y TUE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188720"/>
                <a:gridCol w="1463040"/>
                <a:gridCol w="1463040"/>
                <a:gridCol w="1280160"/>
                <a:gridCol w="13716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[W]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 [A]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 curva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 [A]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ΔU [%]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IUG1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 mm²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IUG2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 mm²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IUG3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 mm²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IUG4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 mm²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TUG1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 mm²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48056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Ib ≤ In ≤ Iz verificada en todos los circuitos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ΔU ≤ 3 % iluminación y ≤ 5 % tomas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mín. al final de línea &gt; 10·In: disparo magnético garantizado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IUG1 = 1,81 + 0,72 + 0,16 = 2,69 A (dato de campo auditado)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Y PROTECCIONES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motriz trifásica 380 V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14400"/>
                <a:gridCol w="1005840"/>
                <a:gridCol w="1097280"/>
                <a:gridCol w="2103120"/>
                <a:gridCol w="155448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[kW]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[A]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Iarr [A]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Guardamotor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ΔU [%]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Escuadradora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GV2ME14 (6–10 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LC1D12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Garlopa / Cepilladora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GV2ME14 (6–10 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LC1D09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Tupí de banco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GV2ME14 (6–10 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LC1D09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Aspirador central de viruta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GV2ME14 (6–10 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LC1D12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Lijadora de banda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GV2ME08 (2,5–4 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LC1D09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4805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= P / (√3 · U · η · cos φ)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tetrapolares 4×2,5 mm² en bandeja; arranque directo; M5 con relé térmico F1 2,5–4,0 A regulado a 3,6 A (archivo .esim).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 tableros y esquema unifilar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8</a:t>
            </a:r>
            <a:endParaRPr lang="en-US" sz="1000" dirty="0"/>
          </a:p>
        </p:txBody>
      </p:sp>
      <p:pic>
        <p:nvPicPr>
          <p:cNvPr id="7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406640" cy="4937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38160" y="1554480"/>
            <a:ext cx="3749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TP: seccionador 63 A, IGA 4P 40 A C + bobina MN, SPD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TS-GEN: 3 diferenciales 30 mA (uno por fase) + 6 circuitos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TS-FM: diferencial 4P 40 A 30 mA, guardamotores y contactores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de corte 6 kA &gt; Icc 3,15 kA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Iluminación: método de los lúmenes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2743200" cy="13258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554480"/>
            <a:ext cx="73152" cy="132588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6642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lx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requerido (taller)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74720" y="1554480"/>
            <a:ext cx="2743200" cy="13258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554480"/>
            <a:ext cx="73152" cy="13258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3703320" y="166420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778 lx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70332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Iluminancia media obtenida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1554480"/>
            <a:ext cx="2377440" cy="13258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1554480"/>
            <a:ext cx="73152" cy="132588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17" name="Text 14"/>
          <p:cNvSpPr/>
          <p:nvPr/>
        </p:nvSpPr>
        <p:spPr>
          <a:xfrm>
            <a:off x="6629400" y="166420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629400" y="2331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Campanas LED IP65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961120" y="1554480"/>
            <a:ext cx="2651760" cy="13258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961120" y="1554480"/>
            <a:ext cx="73152" cy="1325880"/>
          </a:xfrm>
          <a:prstGeom prst="rect">
            <a:avLst/>
          </a:prstGeom>
          <a:solidFill>
            <a:srgbClr val="1F6B41"/>
          </a:solidFill>
          <a:ln/>
        </p:spPr>
      </p:sp>
      <p:sp>
        <p:nvSpPr>
          <p:cNvPr id="21" name="Text 18"/>
          <p:cNvSpPr/>
          <p:nvPr/>
        </p:nvSpPr>
        <p:spPr>
          <a:xfrm>
            <a:off x="9189720" y="166420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1,59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918972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del local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320040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ΦT = E·S / (CU·FM) = 500·100 / (0,60·0,80) = 104.167 lm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104.167 / 9000 = 11,57 → mínimo 12; adoptado 18 por zonificación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dimensionados a 100 W por punto (peor caso) — reserva para mayor flujo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acabado: luminarias antideflagrantes (ATEX)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CANALIZACIONES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Canalizaciones: caños semipesados y bandeja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82880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Conductores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Caño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Ocupación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IUG1…IUG4 (c/u)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2,5 mm²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RS19 (3/4")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TUG1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2,5 mm²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RS19 (3/4")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4 mm²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RS19 (3/4")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→ TS-GEN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6 mm²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RS25 (1")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Acometida → 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10 mm²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RS32 (1 1/4")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863840" y="1554480"/>
            <a:ext cx="3840480" cy="13258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863840" y="1554480"/>
            <a:ext cx="73152" cy="1325880"/>
          </a:xfrm>
          <a:prstGeom prst="rect">
            <a:avLst/>
          </a:prstGeom>
          <a:solidFill>
            <a:srgbClr val="1F6B41"/>
          </a:solidFill>
          <a:ln/>
        </p:spPr>
      </p:sp>
      <p:sp>
        <p:nvSpPr>
          <p:cNvPr id="10" name="Text 6"/>
          <p:cNvSpPr/>
          <p:nvPr/>
        </p:nvSpPr>
        <p:spPr>
          <a:xfrm>
            <a:off x="8092440" y="16642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10,9 %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8092440" y="2331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bandeja 150×50 mm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420624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Caño de acero semipesado IRAM-IAS U500: resiste golpes y vibración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máxima admisible 35 %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perforada galvanizada a 3 m para fuerza motriz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metálica vinculada a PE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AUTOMATISMO Y SEGURIDAD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Automatismo: arranque directo con enclavamiento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11</a:t>
            </a:r>
            <a:endParaRPr lang="en-US" sz="1000" dirty="0"/>
          </a:p>
        </p:txBody>
      </p:sp>
      <p:pic>
        <p:nvPicPr>
          <p:cNvPr id="7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846320" cy="48256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0" y="155448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Mando: térmico NC → paro NC → marcha NA ∥ 13-14 KM → bobina A1-A2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Potencia: protección 3P → KM → relé térmico → motor U1-V1-W1-PE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rearranque tras corte de tensión (IEC 60204-1)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setas de emergencia + 1 por máquina sobre bobina MN del IGA (ISO 13850, cat. 0)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Aspirador M4 arranca junto a cualquier máquina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3D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Lijadora de banda — modelado SolidWorks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12</a:t>
            </a:r>
            <a:endParaRPr lang="en-US" sz="1000" dirty="0"/>
          </a:p>
        </p:txBody>
      </p:sp>
      <p:pic>
        <p:nvPicPr>
          <p:cNvPr id="7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486400" cy="411480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55448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kW · 380 V · 2850 rpm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Corriente nominal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3,56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Tambor motriz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Ø 150 mm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de banda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22,4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nominal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5,03 N·m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piezas + 2 ensambles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6126480" y="44805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π · D · n / 60 = π · 0,15 · 2850 / 60 ≈ 22,4 m/s (rango óptimo 15–30 m/s)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3D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Despiece de la lijadora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783080" cy="2240280"/>
          </a:xfrm>
          <a:prstGeom prst="rect">
            <a:avLst/>
          </a:prstGeom>
          <a:solidFill>
            <a:srgbClr val="F3F6FA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8" name="Image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1691640" cy="12687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8346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Pedestal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441448" y="1463040"/>
            <a:ext cx="1783080" cy="2240280"/>
          </a:xfrm>
          <a:prstGeom prst="rect">
            <a:avLst/>
          </a:prstGeom>
          <a:solidFill>
            <a:srgbClr val="F3F6FA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11" name="Image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508760"/>
            <a:ext cx="1691640" cy="12687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41448" y="28346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· Travesaño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334256" y="1463040"/>
            <a:ext cx="1783080" cy="2240280"/>
          </a:xfrm>
          <a:prstGeom prst="rect">
            <a:avLst/>
          </a:prstGeom>
          <a:solidFill>
            <a:srgbClr val="F3F6FA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14" name="Image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1508760"/>
            <a:ext cx="1691640" cy="12687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334256" y="28346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Soporte motor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227064" y="1463040"/>
            <a:ext cx="1783080" cy="2240280"/>
          </a:xfrm>
          <a:prstGeom prst="rect">
            <a:avLst/>
          </a:prstGeom>
          <a:solidFill>
            <a:srgbClr val="F3F6FA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17" name="Image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508760"/>
            <a:ext cx="1691640" cy="12687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27064" y="28346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Rueda delantera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8119872" y="1463040"/>
            <a:ext cx="1783080" cy="2240280"/>
          </a:xfrm>
          <a:prstGeom prst="rect">
            <a:avLst/>
          </a:prstGeom>
          <a:solidFill>
            <a:srgbClr val="F3F6FA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20" name="Image 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1508760"/>
            <a:ext cx="1691640" cy="126873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119872" y="28346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Rueda trasera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10012680" y="1463040"/>
            <a:ext cx="1783080" cy="2240280"/>
          </a:xfrm>
          <a:prstGeom prst="rect">
            <a:avLst/>
          </a:prstGeom>
          <a:solidFill>
            <a:srgbClr val="F3F6FA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23" name="Image 6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0" y="1508760"/>
            <a:ext cx="1691640" cy="126873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012680" y="28346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Eje delantero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548640" y="3886200"/>
            <a:ext cx="1783080" cy="2240280"/>
          </a:xfrm>
          <a:prstGeom prst="rect">
            <a:avLst/>
          </a:prstGeom>
          <a:solidFill>
            <a:srgbClr val="F3F6FA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26" name="Image 7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3931920"/>
            <a:ext cx="1691640" cy="126873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48640" y="52578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Soporte rodillo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2441448" y="3886200"/>
            <a:ext cx="1783080" cy="2240280"/>
          </a:xfrm>
          <a:prstGeom prst="rect">
            <a:avLst/>
          </a:prstGeom>
          <a:solidFill>
            <a:srgbClr val="F3F6FA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29" name="Image 8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7168" y="3931920"/>
            <a:ext cx="1691640" cy="126873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2441448" y="52578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Placa inclinación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4334256" y="3886200"/>
            <a:ext cx="1783080" cy="2240280"/>
          </a:xfrm>
          <a:prstGeom prst="rect">
            <a:avLst/>
          </a:prstGeom>
          <a:solidFill>
            <a:srgbClr val="F3F6FA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32" name="Image 9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9976" y="3931920"/>
            <a:ext cx="1691640" cy="126873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334256" y="52578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Tambor</a:t>
            </a:r>
            <a:endParaRPr lang="en-US" sz="1200" dirty="0"/>
          </a:p>
        </p:txBody>
      </p:sp>
      <p:sp>
        <p:nvSpPr>
          <p:cNvPr id="34" name="Shape 22"/>
          <p:cNvSpPr/>
          <p:nvPr/>
        </p:nvSpPr>
        <p:spPr>
          <a:xfrm>
            <a:off x="6227064" y="3886200"/>
            <a:ext cx="1783080" cy="2240280"/>
          </a:xfrm>
          <a:prstGeom prst="rect">
            <a:avLst/>
          </a:prstGeom>
          <a:solidFill>
            <a:srgbClr val="F3F6FA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35" name="Image 10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2784" y="3931920"/>
            <a:ext cx="1691640" cy="126873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227064" y="52578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Banda</a:t>
            </a:r>
            <a:endParaRPr lang="en-US" sz="1200" dirty="0"/>
          </a:p>
        </p:txBody>
      </p:sp>
      <p:sp>
        <p:nvSpPr>
          <p:cNvPr id="37" name="Shape 24"/>
          <p:cNvSpPr/>
          <p:nvPr/>
        </p:nvSpPr>
        <p:spPr>
          <a:xfrm>
            <a:off x="8119872" y="3886200"/>
            <a:ext cx="1783080" cy="2240280"/>
          </a:xfrm>
          <a:prstGeom prst="rect">
            <a:avLst/>
          </a:prstGeom>
          <a:solidFill>
            <a:srgbClr val="F3F6FA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38" name="Image 11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5592" y="3931920"/>
            <a:ext cx="1691640" cy="126873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8119872" y="52578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Motor 3~</a:t>
            </a:r>
            <a:endParaRPr lang="en-US" sz="1200" dirty="0"/>
          </a:p>
        </p:txBody>
      </p:sp>
      <p:sp>
        <p:nvSpPr>
          <p:cNvPr id="40" name="Shape 26"/>
          <p:cNvSpPr/>
          <p:nvPr/>
        </p:nvSpPr>
        <p:spPr>
          <a:xfrm>
            <a:off x="10012680" y="3886200"/>
            <a:ext cx="1783080" cy="2240280"/>
          </a:xfrm>
          <a:prstGeom prst="rect">
            <a:avLst/>
          </a:prstGeom>
          <a:solidFill>
            <a:srgbClr val="F3F6FA"/>
          </a:solidFill>
          <a:ln w="12700">
            <a:solidFill>
              <a:srgbClr val="E1E7EE"/>
            </a:solidFill>
            <a:prstDash val="solid"/>
          </a:ln>
        </p:spPr>
      </p:sp>
      <p:pic>
        <p:nvPicPr>
          <p:cNvPr id="41" name="Image 12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0" y="3931920"/>
            <a:ext cx="1691640" cy="1268730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10012680" y="525780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Mesa de apoyo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de materiales y presupuesto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14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463040"/>
          <a:ext cx="6675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554480"/>
          <a:ext cx="4389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7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6.229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Mano de obra (35 %)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2.180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Ingeniería (10 %)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623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Imprevistos (5 %)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420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9.452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 21 %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1.985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7406640" y="4114800"/>
            <a:ext cx="4389120" cy="13258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7406640" y="4114800"/>
            <a:ext cx="73152" cy="13258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6"/>
          <p:cNvSpPr/>
          <p:nvPr/>
        </p:nvSpPr>
        <p:spPr>
          <a:xfrm>
            <a:off x="7635240" y="422452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11.437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7635240" y="4892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 IVA (precios referenciales)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pic>
        <p:nvPicPr>
          <p:cNvPr id="5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· Proyecto TK-VA   |   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9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de 20,74 kW compatible con el suministro trifásico previsto (15–22 kW).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9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circuitos verifican capacidad de corriente, caída de tensión y cortocircuito.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9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TP / TS-GEN / TS-FM: continuidad de servicio y selectividad.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9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778 lx medios en taller con 18 campanas LED.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9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Automatismo y emergencias según IEC 60204-1 e ISO 13850.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900" dirty="0">
                <a:solidFill>
                  <a:srgbClr val="10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Lijadora de banda modelada y coherente con su protección eléctrica.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solidFill>
            <a:srgbClr val="0B4A7F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— Preguntas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Proyecto TK-VA — Vortex</dc:title>
  <dc:subject>PptxGenJS Presentation</dc:subject>
  <dc:creator>PptxGenJS</dc:creator>
  <cp:lastModifiedBy>PptxGenJS</cp:lastModifiedBy>
  <cp:revision>1</cp:revision>
  <dcterms:created xsi:type="dcterms:W3CDTF">2026-10-14T15:42:28Z</dcterms:created>
  <dcterms:modified xsi:type="dcterms:W3CDTF">2026-10-14T15:42:28Z</dcterms:modified>
</cp:coreProperties>
</file>